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9" r:id="rId2"/>
    <p:sldId id="310" r:id="rId3"/>
    <p:sldId id="311" r:id="rId4"/>
    <p:sldId id="706" r:id="rId5"/>
    <p:sldId id="705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16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BE083-AE67-4CD9-97D7-987019B3DD9F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E8EFF4-D7C9-44D6-AE6F-D6233BBAC7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797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C7AB5-54AB-A853-15D1-E0B47D5C5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93B307-CA4E-1441-C13A-DD0D3242D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5A9E4F-2B2E-7678-E831-19170119A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9B613-0476-79FA-1F7E-E69B46BE2D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40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4AF49-55A3-2C3C-DBEF-1A4BF2661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97B10-B95E-AAF3-9041-ADC2FEEB0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AF45A8-0AED-F26C-2589-65294BC27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587DF-56E6-D05F-F8C3-8799BF3B5D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602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0BEAB4-EFC3-7D3C-B08F-4EB5E01E1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39CF763-2E91-5D54-14B0-B2B85C2AF3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6A865D-CFE0-10D4-B64C-CFECBD3AE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9778C-F119-4AA3-ADC2-16B1FEC04EE0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771636-8DAC-EFE9-6ED9-9A60E4157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097B80-C9F5-3E91-11D5-9E3FDD845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6F04-9F24-43C8-9EC0-6C08EFE8C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323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2C1400-BEF2-1394-79D5-9E6F84DF0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462251-395F-571A-F1E1-D24845114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E0C3ED-30EC-DF85-2810-9C41C17A0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9778C-F119-4AA3-ADC2-16B1FEC04EE0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FCD284-3C17-CA7C-7F3F-D32E9246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125BC1-E07E-6310-5DDE-DAE1AF284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6F04-9F24-43C8-9EC0-6C08EFE8C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805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86355-80E7-1A48-92C4-5ED06B08F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934100-B8CD-DF8B-7623-109DEBF99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228F48-810F-640B-D849-5D547662A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9778C-F119-4AA3-ADC2-16B1FEC04EE0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3C134A-8F06-85B5-634C-987A6574E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A234B2-F4E1-7D3D-B1F5-729C79B07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6F04-9F24-43C8-9EC0-6C08EFE8C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2965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AFE382-7E9B-09FA-C6FE-089E11B81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40547F-0843-5EEE-8764-459266A975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2CD167-3142-21E8-BCA6-4E54169DD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5F7D57-17F4-FFEF-E1FC-C93A2CF88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9778C-F119-4AA3-ADC2-16B1FEC04EE0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74901C-1E1C-2D68-02CE-CD1F50586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E1756B-FE69-A490-5130-CEC50B1A2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6F04-9F24-43C8-9EC0-6C08EFE8C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512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831B92-522E-FE87-47C5-D85F92928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9A7886-B65B-0BBD-36BF-DF040539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28C3B8-EFD7-160A-D1A7-8EF07382E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0A339D0-C5A6-4266-8B98-D1256780A0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8B24F6-350E-9F29-376D-4DBCB00069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FBAF648-E0B7-F501-5C0C-BCBC1AAAD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9778C-F119-4AA3-ADC2-16B1FEC04EE0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AEA3AB-0E33-4C79-4405-F1D657920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511EE1-5AE3-383D-BEBD-F93CF84C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6F04-9F24-43C8-9EC0-6C08EFE8C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837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A37FAB-684A-31B7-0F89-5EFB53905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E31A2B8-E0AE-D0EC-4FE1-C0F155484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9778C-F119-4AA3-ADC2-16B1FEC04EE0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2C58550-7665-261C-CB35-AEBDF7502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ECC629-9B32-F903-9758-45EBF49F4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6F04-9F24-43C8-9EC0-6C08EFE8C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846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D5FAA7C-C19C-1A57-3455-EB840E599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9778C-F119-4AA3-ADC2-16B1FEC04EE0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CF16862-586A-90BE-C488-E132EC6E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D528BE-10EA-EA61-6144-3982AB90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6F04-9F24-43C8-9EC0-6C08EFE8C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981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9EFB9-FA67-E365-1958-7619AA4F3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AB6293-6B2B-DA52-5581-B3DBEFE52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E6D8AA-1236-CABA-42D3-3820CA872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76F075-4F87-CFDC-575E-82675DCA4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9778C-F119-4AA3-ADC2-16B1FEC04EE0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1200BA-1395-17E8-CE5D-EEE70CBED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0C3283-D382-D366-3CA8-002442BE2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6F04-9F24-43C8-9EC0-6C08EFE8C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27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67BE7-140B-4E07-3FE7-870FBB88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87648FB-C2F9-EF1E-7FC8-9AE6095B4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BBE379-BE43-C28B-FEC0-B6845F253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3E35B7-123C-D3E2-A848-DDD04257D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9778C-F119-4AA3-ADC2-16B1FEC04EE0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0F3824-B6F6-18D0-07BE-5F9D70B1E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05D952-1819-FE60-8115-8F90F6B48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6F04-9F24-43C8-9EC0-6C08EFE8C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650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A374E1-AEF4-D4BE-A6FF-8C1B2FD29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733351-6478-DD30-54E1-21C051BD48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C33B2A-0B5F-6475-8ADF-0285B296B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9778C-F119-4AA3-ADC2-16B1FEC04EE0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F2ABE6-CF6A-5185-E0A9-E20CF1F8E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5E0454-DB2A-795C-D12A-6AE137486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6F04-9F24-43C8-9EC0-6C08EFE8C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871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E41463F-C257-9A27-22E7-AA4FBA7FFA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2198F7-F0AF-5F6B-70C0-0A798CEE2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CBB7D9-6E4E-B1BA-C210-8A0592E83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9778C-F119-4AA3-ADC2-16B1FEC04EE0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5F532B-7977-EA18-4286-C8A5984B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C25AD8-9107-3104-6A4C-69C93FC52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D6F04-9F24-43C8-9EC0-6C08EFE8C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278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9">
            <a:extLst>
              <a:ext uri="{FF2B5EF4-FFF2-40B4-BE49-F238E27FC236}">
                <a16:creationId xmlns:a16="http://schemas.microsoft.com/office/drawing/2014/main" id="{E9461EF2-6AFF-1C31-6D78-3632B7AFA45B}"/>
              </a:ext>
            </a:extLst>
          </p:cNvPr>
          <p:cNvSpPr/>
          <p:nvPr userDrawn="1"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22">
            <a:extLst>
              <a:ext uri="{FF2B5EF4-FFF2-40B4-BE49-F238E27FC236}">
                <a16:creationId xmlns:a16="http://schemas.microsoft.com/office/drawing/2014/main" id="{81961D46-0C8A-F3FA-8EFD-061D80D0822D}"/>
              </a:ext>
            </a:extLst>
          </p:cNvPr>
          <p:cNvSpPr txBox="1"/>
          <p:nvPr userDrawn="1"/>
        </p:nvSpPr>
        <p:spPr>
          <a:xfrm>
            <a:off x="8585454" y="304495"/>
            <a:ext cx="3140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4A3B8">
                    <a:alpha val="5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IE31500-SCM </a:t>
            </a:r>
            <a:endParaRPr lang="en-US" sz="1800" dirty="0"/>
          </a:p>
        </p:txBody>
      </p:sp>
      <p:sp>
        <p:nvSpPr>
          <p:cNvPr id="14" name="Shape 37">
            <a:extLst>
              <a:ext uri="{FF2B5EF4-FFF2-40B4-BE49-F238E27FC236}">
                <a16:creationId xmlns:a16="http://schemas.microsoft.com/office/drawing/2014/main" id="{91371E5E-D379-2534-61E7-495B49E0261E}"/>
              </a:ext>
            </a:extLst>
          </p:cNvPr>
          <p:cNvSpPr/>
          <p:nvPr userDrawn="1"/>
        </p:nvSpPr>
        <p:spPr>
          <a:xfrm>
            <a:off x="428549" y="301244"/>
            <a:ext cx="75895" cy="381305"/>
          </a:xfrm>
          <a:prstGeom prst="roundRect">
            <a:avLst>
              <a:gd name="adj" fmla="val 301206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71D864CE-D280-EBF2-5A54-FB0A98EF40D6}"/>
              </a:ext>
            </a:extLst>
          </p:cNvPr>
          <p:cNvSpPr/>
          <p:nvPr userDrawn="1"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34">
            <a:extLst>
              <a:ext uri="{FF2B5EF4-FFF2-40B4-BE49-F238E27FC236}">
                <a16:creationId xmlns:a16="http://schemas.microsoft.com/office/drawing/2014/main" id="{BD1D6365-D585-E756-B30B-03C8FFAEF685}"/>
              </a:ext>
            </a:extLst>
          </p:cNvPr>
          <p:cNvSpPr txBox="1"/>
          <p:nvPr userDrawn="1"/>
        </p:nvSpPr>
        <p:spPr>
          <a:xfrm>
            <a:off x="571500" y="6593738"/>
            <a:ext cx="23582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Supply chain management</a:t>
            </a:r>
            <a:endParaRPr lang="en-US" sz="1000" dirty="0"/>
          </a:p>
        </p:txBody>
      </p:sp>
      <p:sp>
        <p:nvSpPr>
          <p:cNvPr id="21" name="부제목 2">
            <a:extLst>
              <a:ext uri="{FF2B5EF4-FFF2-40B4-BE49-F238E27FC236}">
                <a16:creationId xmlns:a16="http://schemas.microsoft.com/office/drawing/2014/main" id="{7C09C929-159A-9DF3-34E4-73AD07692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866" y="673474"/>
            <a:ext cx="8175685" cy="25582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1600" b="1" kern="12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E25A65-C6D7-CE3A-B42E-9B53E4EA5AAC}"/>
              </a:ext>
            </a:extLst>
          </p:cNvPr>
          <p:cNvSpPr txBox="1"/>
          <p:nvPr userDrawn="1"/>
        </p:nvSpPr>
        <p:spPr>
          <a:xfrm>
            <a:off x="466496" y="231896"/>
            <a:ext cx="108198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r>
              <a:rPr lang="en-US" sz="2400" b="1" kern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8.3. Aggregate Planning Using Linear Programming</a:t>
            </a:r>
          </a:p>
        </p:txBody>
      </p:sp>
    </p:spTree>
    <p:extLst>
      <p:ext uri="{BB962C8B-B14F-4D97-AF65-F5344CB8AC3E}">
        <p14:creationId xmlns:p14="http://schemas.microsoft.com/office/powerpoint/2010/main" val="3766002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D3A0E9F-F019-562C-CBF2-C238C5583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8CFCB0-BF76-EA22-63FE-92A205E71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6D058C-3803-B110-C6D2-0BC6C9B914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F9778C-F119-4AA3-ADC2-16B1FEC04EE0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E00FD8-8E2E-8C38-45A9-932F92FB91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4DCBB5-F077-5386-15F4-DAF3848DD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5D6F04-9F24-43C8-9EC0-6C08EFE8C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3372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2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1210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240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1230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7" Type="http://schemas.openxmlformats.org/officeDocument/2006/relationships/image" Target="../media/image128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70.png"/><Relationship Id="rId5" Type="http://schemas.openxmlformats.org/officeDocument/2006/relationships/image" Target="../media/image126.png"/><Relationship Id="rId4" Type="http://schemas.openxmlformats.org/officeDocument/2006/relationships/image" Target="../media/image1250.png"/><Relationship Id="rId9" Type="http://schemas.openxmlformats.org/officeDocument/2006/relationships/image" Target="../media/image130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666598" y="952805"/>
            <a:ext cx="32296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1" name="부제목 10">
            <a:extLst>
              <a:ext uri="{FF2B5EF4-FFF2-40B4-BE49-F238E27FC236}">
                <a16:creationId xmlns:a16="http://schemas.microsoft.com/office/drawing/2014/main" id="{34ED34E9-D801-8897-4AAA-7425AB8AA9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dirty="0"/>
              <a:t>Demand Forecast at Red Tomato Tools</a:t>
            </a:r>
          </a:p>
          <a:p>
            <a:endParaRPr lang="ko-KR" altLang="en-US" dirty="0"/>
          </a:p>
        </p:txBody>
      </p:sp>
      <p:pic>
        <p:nvPicPr>
          <p:cNvPr id="13" name="그림 12" descr="The image displays a demand forecast for the months of January to June, with the total demand reaching 16,000.&#10;&#10;AI 생성 콘텐츠는 정확하지 않을 수 있습니다.">
            <a:extLst>
              <a:ext uri="{FF2B5EF4-FFF2-40B4-BE49-F238E27FC236}">
                <a16:creationId xmlns:a16="http://schemas.microsoft.com/office/drawing/2014/main" id="{1E66D3FE-6188-6C78-EBB0-4BC172BC67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5714" y="1331999"/>
            <a:ext cx="2725243" cy="3451976"/>
          </a:xfrm>
          <a:prstGeom prst="rect">
            <a:avLst/>
          </a:prstGeom>
        </p:spPr>
      </p:pic>
      <p:sp>
        <p:nvSpPr>
          <p:cNvPr id="16" name="Text 6">
            <a:extLst>
              <a:ext uri="{FF2B5EF4-FFF2-40B4-BE49-F238E27FC236}">
                <a16:creationId xmlns:a16="http://schemas.microsoft.com/office/drawing/2014/main" id="{43C7FE29-DA74-AB5B-7565-7D413942150F}"/>
              </a:ext>
            </a:extLst>
          </p:cNvPr>
          <p:cNvSpPr txBox="1"/>
          <p:nvPr/>
        </p:nvSpPr>
        <p:spPr>
          <a:xfrm>
            <a:off x="5454838" y="6304272"/>
            <a:ext cx="5781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1A1A1A"/>
                </a:solidFill>
                <a:latin typeface="Noto Sans KR" panose="020B0200000000000000" pitchFamily="50" charset="-127"/>
                <a:ea typeface="Inter" pitchFamily="34" charset="-122"/>
              </a:rPr>
              <a:t>Refer</a:t>
            </a:r>
            <a:r>
              <a:rPr lang="ko-KR" altLang="en-US" dirty="0">
                <a:solidFill>
                  <a:srgbClr val="1A1A1A"/>
                </a:solidFill>
                <a:latin typeface="Noto Sans KR" panose="020B0200000000000000" pitchFamily="50" charset="-127"/>
                <a:ea typeface="Inter" pitchFamily="34" charset="-122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Noto Sans KR" panose="020B0200000000000000" pitchFamily="50" charset="-127"/>
                <a:ea typeface="Inter" pitchFamily="34" charset="-122"/>
              </a:rPr>
              <a:t>to</a:t>
            </a:r>
            <a:r>
              <a:rPr lang="ko-KR" altLang="en-US" dirty="0">
                <a:solidFill>
                  <a:srgbClr val="1A1A1A"/>
                </a:solidFill>
                <a:latin typeface="Noto Sans KR" panose="020B0200000000000000" pitchFamily="50" charset="-127"/>
                <a:ea typeface="Inter" pitchFamily="34" charset="-122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Noto Sans KR" panose="020B0200000000000000" pitchFamily="50" charset="-127"/>
                <a:ea typeface="Inter" pitchFamily="34" charset="-122"/>
              </a:rPr>
              <a:t>provided</a:t>
            </a:r>
            <a:r>
              <a:rPr lang="ko-KR" altLang="en-US" dirty="0">
                <a:solidFill>
                  <a:srgbClr val="1A1A1A"/>
                </a:solidFill>
                <a:latin typeface="Noto Sans KR" panose="020B0200000000000000" pitchFamily="50" charset="-127"/>
                <a:ea typeface="Inter" pitchFamily="34" charset="-122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Noto Sans KR" panose="020B0200000000000000" pitchFamily="50" charset="-127"/>
                <a:ea typeface="Inter" pitchFamily="34" charset="-122"/>
              </a:rPr>
              <a:t>xlsx file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A42902-F25F-1896-8835-E8273CD44D09}"/>
              </a:ext>
            </a:extLst>
          </p:cNvPr>
          <p:cNvSpPr txBox="1"/>
          <p:nvPr/>
        </p:nvSpPr>
        <p:spPr>
          <a:xfrm>
            <a:off x="666598" y="3623086"/>
            <a:ext cx="7536543" cy="134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Highly seasonal demand</a:t>
            </a:r>
          </a:p>
          <a:p>
            <a:pPr marL="285750" lvl="1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Capacity determined mainly by workforce size (i.e., flexible workforce)</a:t>
            </a:r>
          </a:p>
          <a:p>
            <a:pPr marL="285750" lvl="1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Subcontracting, inventories, and backlogs are allowed</a:t>
            </a:r>
          </a:p>
          <a:p>
            <a:pPr marL="285750" lvl="1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Minimizing cost is the same as maximizing profit (Why?)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1F40993F-CB95-2545-F740-41CCB52352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717" y="1491364"/>
                <a:ext cx="7410082" cy="15696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Sets</a:t>
                </a:r>
                <a:endParaRPr kumimoji="0" lang="en-US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    </m:t>
                    </m:r>
                    <m:r>
                      <a: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∈</m:t>
                    </m:r>
                    <m:r>
                      <m:rPr>
                        <m:lit/>
                      </m:rPr>
                      <a: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{</m:t>
                    </m:r>
                    <m:r>
                      <a: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1, 2, 3, 4, 5, 6</m:t>
                    </m:r>
                    <m:r>
                      <m:rPr>
                        <m:lit/>
                      </m:rPr>
                      <a: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   Planning horizon (1: Jan, 2: Feb, 3: Mar, 4: Apr, 5: May, 6: Jun)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Demand Parameters</a:t>
                </a:r>
                <a:endParaRPr kumimoji="0" lang="en-US" sz="16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=1600,</m:t>
                      </m:r>
                      <m:sSub>
                        <m:sSubPr>
                          <m:ctrlP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=3000,</m:t>
                      </m:r>
                      <m:sSub>
                        <m:sSubPr>
                          <m:ctrlP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=3200,</m:t>
                      </m:r>
                      <m:sSub>
                        <m:sSubPr>
                          <m:ctrlP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=3800,</m:t>
                      </m:r>
                      <m:sSub>
                        <m:sSubPr>
                          <m:ctrlP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=2200,</m:t>
                      </m:r>
                      <m:sSub>
                        <m:sSubPr>
                          <m:ctrlP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kumimoji="0" lang="en-US" sz="16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=2200</m:t>
                      </m:r>
                    </m:oMath>
                  </m:oMathPara>
                </a14:m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1F40993F-CB95-2545-F740-41CCB52352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4717" y="1491364"/>
                <a:ext cx="7410082" cy="1569660"/>
              </a:xfrm>
              <a:prstGeom prst="rect">
                <a:avLst/>
              </a:prstGeom>
              <a:blipFill>
                <a:blip r:embed="rId6"/>
                <a:stretch>
                  <a:fillRect l="-411" t="-77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오디오 23">
            <a:hlinkClick r:id="" action="ppaction://media"/>
            <a:extLst>
              <a:ext uri="{FF2B5EF4-FFF2-40B4-BE49-F238E27FC236}">
                <a16:creationId xmlns:a16="http://schemas.microsoft.com/office/drawing/2014/main" id="{72D9EDCC-38B1-9097-0519-D807CEA2C22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287500" t="-287500" r="-287500" b="-28750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452"/>
    </mc:Choice>
    <mc:Fallback xmlns="">
      <p:transition spd="slow" advTm="824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76051" x="0" y="0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87B30-6259-256D-FB07-19BC8673A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AB96690B-DE2F-CA74-3F35-583FE65B79DA}"/>
              </a:ext>
            </a:extLst>
          </p:cNvPr>
          <p:cNvSpPr txBox="1"/>
          <p:nvPr/>
        </p:nvSpPr>
        <p:spPr>
          <a:xfrm>
            <a:off x="666598" y="952805"/>
            <a:ext cx="32296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1" name="부제목 10">
            <a:extLst>
              <a:ext uri="{FF2B5EF4-FFF2-40B4-BE49-F238E27FC236}">
                <a16:creationId xmlns:a16="http://schemas.microsoft.com/office/drawing/2014/main" id="{48182547-9B61-AAE7-2596-D560728FED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/>
              <a:t>Input data for Red Tomato Tools</a:t>
            </a: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7D5F4F87-00BF-8A4A-7F6D-D8D2FC1A59E3}"/>
              </a:ext>
            </a:extLst>
          </p:cNvPr>
          <p:cNvSpPr txBox="1"/>
          <p:nvPr/>
        </p:nvSpPr>
        <p:spPr>
          <a:xfrm>
            <a:off x="5454838" y="6304272"/>
            <a:ext cx="5781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1A1A1A"/>
                </a:solidFill>
                <a:latin typeface="Noto Sans KR" panose="020B0200000000000000" pitchFamily="50" charset="-127"/>
                <a:ea typeface="Inter" pitchFamily="34" charset="-122"/>
              </a:rPr>
              <a:t>Refer</a:t>
            </a:r>
            <a:r>
              <a:rPr lang="ko-KR" altLang="en-US" dirty="0">
                <a:solidFill>
                  <a:srgbClr val="1A1A1A"/>
                </a:solidFill>
                <a:latin typeface="Noto Sans KR" panose="020B0200000000000000" pitchFamily="50" charset="-127"/>
                <a:ea typeface="Inter" pitchFamily="34" charset="-122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Noto Sans KR" panose="020B0200000000000000" pitchFamily="50" charset="-127"/>
                <a:ea typeface="Inter" pitchFamily="34" charset="-122"/>
              </a:rPr>
              <a:t>to</a:t>
            </a:r>
            <a:r>
              <a:rPr lang="ko-KR" altLang="en-US" dirty="0">
                <a:solidFill>
                  <a:srgbClr val="1A1A1A"/>
                </a:solidFill>
                <a:latin typeface="Noto Sans KR" panose="020B0200000000000000" pitchFamily="50" charset="-127"/>
                <a:ea typeface="Inter" pitchFamily="34" charset="-122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Noto Sans KR" panose="020B0200000000000000" pitchFamily="50" charset="-127"/>
                <a:ea typeface="Inter" pitchFamily="34" charset="-122"/>
              </a:rPr>
              <a:t>provided</a:t>
            </a:r>
            <a:r>
              <a:rPr lang="ko-KR" altLang="en-US" dirty="0">
                <a:solidFill>
                  <a:srgbClr val="1A1A1A"/>
                </a:solidFill>
                <a:latin typeface="Noto Sans KR" panose="020B0200000000000000" pitchFamily="50" charset="-127"/>
                <a:ea typeface="Inter" pitchFamily="34" charset="-122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Noto Sans KR" panose="020B0200000000000000" pitchFamily="50" charset="-127"/>
                <a:ea typeface="Inter" pitchFamily="34" charset="-122"/>
              </a:rPr>
              <a:t>xlsx file</a:t>
            </a:r>
            <a:endParaRPr lang="en-US" dirty="0"/>
          </a:p>
        </p:txBody>
      </p:sp>
      <p:pic>
        <p:nvPicPr>
          <p:cNvPr id="3" name="그림 2" descr="The provided text is a breakdown of various costs and resources associated with a production process, including material costs, inventory, labor, and capacity considerations.&#10;&#10;AI 생성 콘텐츠는 정확하지 않을 수 있습니다.">
            <a:extLst>
              <a:ext uri="{FF2B5EF4-FFF2-40B4-BE49-F238E27FC236}">
                <a16:creationId xmlns:a16="http://schemas.microsoft.com/office/drawing/2014/main" id="{0C07ADBE-E5FD-267B-F5DA-F5B9F6A843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953" y="1095908"/>
            <a:ext cx="3490161" cy="51378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2">
                <a:extLst>
                  <a:ext uri="{FF2B5EF4-FFF2-40B4-BE49-F238E27FC236}">
                    <a16:creationId xmlns:a16="http://schemas.microsoft.com/office/drawing/2014/main" id="{DF471868-76E8-B739-2708-90CFB3E3EA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8084" y="1604572"/>
                <a:ext cx="7731963" cy="25545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6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6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kumimoji="0" lang="en-US" sz="16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  <a:ea typeface="Google Sans Text"/>
                      </a:rPr>
                      <m:t>:</m:t>
                    </m:r>
                  </m:oMath>
                </a14:m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Material cost per unit ($/unit)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=2: </m:t>
                    </m:r>
                  </m:oMath>
                </a14:m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Inventory holding cost per unit per month ($/unit/month)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= 5:</m:t>
                    </m:r>
                  </m:oMath>
                </a14:m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Stockout or backlog cost per unit per month ($/unit/month)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kumimoji="0" lang="en-US" altLang="en-US" sz="1600" b="0" i="1" u="none" strike="noStrike" cap="none" normalizeH="0" baseline="0" dirty="0" err="1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𝑐</m:t>
                    </m:r>
                    <m:r>
                      <a:rPr kumimoji="0" lang="en-US" altLang="en-US" sz="1600" b="0" i="1" u="none" strike="noStrike" cap="none" normalizeH="0" baseline="-25000" dirty="0" err="1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𝐻</m:t>
                    </m:r>
                    <m:r>
                      <a:rPr kumimoji="0" lang="en-US" altLang="en-US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 = 300: </m:t>
                    </m:r>
                  </m:oMath>
                </a14:m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Hiring cost per worker ($/worker)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kumimoji="0" lang="en-US" altLang="en-US" sz="1600" b="0" i="1" u="none" strike="noStrike" cap="none" normalizeH="0" baseline="0" dirty="0" err="1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𝑐</m:t>
                    </m:r>
                    <m:r>
                      <a:rPr kumimoji="0" lang="en-US" altLang="en-US" sz="1600" b="0" i="1" u="none" strike="noStrike" cap="none" normalizeH="0" baseline="-25000" dirty="0" err="1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𝐿</m:t>
                    </m:r>
                    <m:r>
                      <a:rPr kumimoji="0" lang="en-US" altLang="en-US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 = 500: </m:t>
                    </m:r>
                  </m:oMath>
                </a14:m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Layoff cost per worker ($/worker)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kumimoji="0" lang="en-US" altLang="en-US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𝑐</m:t>
                    </m:r>
                    <m:r>
                      <a:rPr kumimoji="0" lang="en-US" altLang="en-US" sz="1600" b="0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𝑟</m:t>
                    </m:r>
                    <m:r>
                      <a:rPr kumimoji="0" lang="en-US" altLang="en-US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 = 640</m:t>
                    </m:r>
                  </m:oMath>
                </a14:m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: Regular time labor cost per worker per month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(40 units of capacity per month x 4 hours per unit x 4 per hour = $640/worker)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kumimoji="0" lang="en-US" altLang="en-US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𝑐</m:t>
                    </m:r>
                    <m:r>
                      <a:rPr kumimoji="0" lang="en-US" altLang="en-US" sz="1600" b="0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𝑜</m:t>
                    </m:r>
                    <m:r>
                      <a:rPr kumimoji="0" lang="en-US" altLang="en-US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 = 24</m:t>
                    </m:r>
                  </m:oMath>
                </a14:m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: Overtime labor cost per unit (4 hours per unit x $6 per hour = $24/unit)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kumimoji="0" lang="en-US" altLang="en-US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𝑐</m:t>
                    </m:r>
                    <m:r>
                      <a:rPr kumimoji="0" lang="en-US" altLang="en-US" sz="1600" b="0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𝑠</m:t>
                    </m:r>
                    <m:r>
                      <a:rPr kumimoji="0" lang="en-US" altLang="en-US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 = 30</m:t>
                    </m:r>
                  </m:oMath>
                </a14:m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: Subcontracting cost per unit ($/unit)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altLang="en-US" sz="1600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𝑚</m:t>
                    </m:r>
                    <m:r>
                      <a:rPr lang="en-US" altLang="en-US" sz="1600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 = 40: </m:t>
                    </m:r>
                  </m:oMath>
                </a14:m>
                <a:r>
                  <a:rPr lang="en-US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Capacity per worker (unit/month)</a:t>
                </a:r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mc:Choice>
        <mc:Fallback xmlns="">
          <p:sp>
            <p:nvSpPr>
              <p:cNvPr id="7" name="Rectangle 2">
                <a:extLst>
                  <a:ext uri="{FF2B5EF4-FFF2-40B4-BE49-F238E27FC236}">
                    <a16:creationId xmlns:a16="http://schemas.microsoft.com/office/drawing/2014/main" id="{DF471868-76E8-B739-2708-90CFB3E3EA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78084" y="1604572"/>
                <a:ext cx="7731963" cy="2554545"/>
              </a:xfrm>
              <a:prstGeom prst="rect">
                <a:avLst/>
              </a:prstGeom>
              <a:blipFill>
                <a:blip r:embed="rId6"/>
                <a:stretch>
                  <a:fillRect l="-473" t="-239" b="-262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1">
                <a:extLst>
                  <a:ext uri="{FF2B5EF4-FFF2-40B4-BE49-F238E27FC236}">
                    <a16:creationId xmlns:a16="http://schemas.microsoft.com/office/drawing/2014/main" id="{614F89D2-039B-46F6-3BC7-FC0BC4D9F6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8089" y="5117212"/>
                <a:ext cx="7048500" cy="9541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kumimoji="0" lang="en-US" altLang="en-US" sz="1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𝑊</m:t>
                    </m:r>
                    <m:r>
                      <a:rPr kumimoji="0" lang="en-US" altLang="en-US" sz="1400" b="0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0</m:t>
                    </m:r>
                    <m:r>
                      <a:rPr kumimoji="0" lang="en-US" altLang="en-US" sz="1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 = 80</m:t>
                    </m:r>
                  </m:oMath>
                </a14:m>
                <a:r>
                  <a:rPr kumimoji="0" lang="en-US" alt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: Initial workforce (workers)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kumimoji="0" lang="en-US" altLang="en-US" sz="1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𝐼</m:t>
                    </m:r>
                    <m:r>
                      <a:rPr kumimoji="0" lang="en-US" altLang="en-US" sz="1400" b="0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0</m:t>
                    </m:r>
                    <m:r>
                      <a:rPr kumimoji="0" lang="en-US" altLang="en-US" sz="1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 = 1000</m:t>
                    </m:r>
                  </m:oMath>
                </a14:m>
                <a:r>
                  <a:rPr kumimoji="0" lang="en-US" alt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: Initial inventory level (units)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kumimoji="0" lang="en-US" altLang="en-US" sz="1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𝐼</m:t>
                    </m:r>
                    <m:r>
                      <a:rPr kumimoji="0" lang="en-US" altLang="en-US" sz="1400" b="0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6</m:t>
                    </m:r>
                    <m:r>
                      <a:rPr kumimoji="0" lang="en-US" altLang="en-US" sz="1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 </m:t>
                    </m:r>
                    <m:r>
                      <a:rPr kumimoji="0" lang="en-US" altLang="en-US" sz="1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kumimoji="0" lang="en-US" altLang="en-US" sz="1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 500</m:t>
                    </m:r>
                  </m:oMath>
                </a14:m>
                <a:r>
                  <a:rPr kumimoji="0" lang="en-US" alt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: Minimum required ending inventory at the end of month 6 (June)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kumimoji="0" lang="en-US" altLang="en-US" sz="1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𝑂</m:t>
                    </m:r>
                    <m:r>
                      <m:rPr>
                        <m:sty m:val="p"/>
                      </m:rPr>
                      <a:rPr kumimoji="0" lang="en-US" altLang="en-US" sz="1400" b="0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max</m:t>
                    </m:r>
                    <m:r>
                      <a:rPr kumimoji="0" lang="en-US" altLang="en-US" sz="1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 = 10</m:t>
                    </m:r>
                  </m:oMath>
                </a14:m>
                <a:r>
                  <a:rPr kumimoji="0" lang="en-US" alt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: Maximum overtime hours per worker per month (hours)</a:t>
                </a:r>
              </a:p>
            </p:txBody>
          </p:sp>
        </mc:Choice>
        <mc:Fallback xmlns="">
          <p:sp>
            <p:nvSpPr>
              <p:cNvPr id="9" name="Rectangle 1">
                <a:extLst>
                  <a:ext uri="{FF2B5EF4-FFF2-40B4-BE49-F238E27FC236}">
                    <a16:creationId xmlns:a16="http://schemas.microsoft.com/office/drawing/2014/main" id="{614F89D2-039B-46F6-3BC7-FC0BC4D9F6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88089" y="5117212"/>
                <a:ext cx="7048500" cy="954107"/>
              </a:xfrm>
              <a:prstGeom prst="rect">
                <a:avLst/>
              </a:prstGeom>
              <a:blipFill>
                <a:blip r:embed="rId7"/>
                <a:stretch>
                  <a:fillRect t="-637" b="-63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50CB9DD-512F-1F8B-3A4A-8F875CE0543D}"/>
              </a:ext>
            </a:extLst>
          </p:cNvPr>
          <p:cNvCxnSpPr>
            <a:cxnSpLocks/>
          </p:cNvCxnSpPr>
          <p:nvPr/>
        </p:nvCxnSpPr>
        <p:spPr>
          <a:xfrm>
            <a:off x="169253" y="4711700"/>
            <a:ext cx="11828094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550C51E-3B18-414C-FE37-4CAB67A685B5}"/>
              </a:ext>
            </a:extLst>
          </p:cNvPr>
          <p:cNvSpPr txBox="1"/>
          <p:nvPr/>
        </p:nvSpPr>
        <p:spPr>
          <a:xfrm>
            <a:off x="4073525" y="4670776"/>
            <a:ext cx="6165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Capacity and Initial States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48EEE4-D65F-ECC9-98A0-889131EA402A}"/>
              </a:ext>
            </a:extLst>
          </p:cNvPr>
          <p:cNvSpPr txBox="1"/>
          <p:nvPr/>
        </p:nvSpPr>
        <p:spPr>
          <a:xfrm>
            <a:off x="4211943" y="1272054"/>
            <a:ext cx="6165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Cost Parameters</a:t>
            </a:r>
          </a:p>
        </p:txBody>
      </p:sp>
      <p:pic>
        <p:nvPicPr>
          <p:cNvPr id="23" name="오디오 22">
            <a:hlinkClick r:id="" action="ppaction://media"/>
            <a:extLst>
              <a:ext uri="{FF2B5EF4-FFF2-40B4-BE49-F238E27FC236}">
                <a16:creationId xmlns:a16="http://schemas.microsoft.com/office/drawing/2014/main" id="{C2F997F7-51DB-BCED-35DF-CE824F5F310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287500" t="-287500" r="-287500" b="-28750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70990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7053"/>
    </mc:Choice>
    <mc:Fallback xmlns="">
      <p:transition spd="slow" advTm="1770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C9CCE-85B4-FC2D-D57D-56C09CA10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E19ECB6C-EF01-1509-338F-928AE76A7178}"/>
              </a:ext>
            </a:extLst>
          </p:cNvPr>
          <p:cNvSpPr txBox="1"/>
          <p:nvPr/>
        </p:nvSpPr>
        <p:spPr>
          <a:xfrm>
            <a:off x="666598" y="952805"/>
            <a:ext cx="32296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1" name="부제목 10">
            <a:extLst>
              <a:ext uri="{FF2B5EF4-FFF2-40B4-BE49-F238E27FC236}">
                <a16:creationId xmlns:a16="http://schemas.microsoft.com/office/drawing/2014/main" id="{8C3B0570-6D83-0199-8BC6-720F78F0A4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/>
              <a:t>Decision variables</a:t>
            </a: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CAD65958-95CA-AAB5-A3FB-42DAFE381DF0}"/>
              </a:ext>
            </a:extLst>
          </p:cNvPr>
          <p:cNvSpPr txBox="1"/>
          <p:nvPr/>
        </p:nvSpPr>
        <p:spPr>
          <a:xfrm>
            <a:off x="6234655" y="6304272"/>
            <a:ext cx="5781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1A1A1A"/>
                </a:solidFill>
                <a:latin typeface="Noto Sans KR" panose="020B0200000000000000" pitchFamily="50" charset="-127"/>
                <a:ea typeface="Inter" pitchFamily="34" charset="-122"/>
              </a:rPr>
              <a:t>Refer</a:t>
            </a:r>
            <a:r>
              <a:rPr lang="ko-KR" altLang="en-US" dirty="0">
                <a:solidFill>
                  <a:srgbClr val="1A1A1A"/>
                </a:solidFill>
                <a:latin typeface="Noto Sans KR" panose="020B0200000000000000" pitchFamily="50" charset="-127"/>
                <a:ea typeface="Inter" pitchFamily="34" charset="-122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Noto Sans KR" panose="020B0200000000000000" pitchFamily="50" charset="-127"/>
                <a:ea typeface="Inter" pitchFamily="34" charset="-122"/>
              </a:rPr>
              <a:t>to</a:t>
            </a:r>
            <a:r>
              <a:rPr lang="ko-KR" altLang="en-US" dirty="0">
                <a:solidFill>
                  <a:srgbClr val="1A1A1A"/>
                </a:solidFill>
                <a:latin typeface="Noto Sans KR" panose="020B0200000000000000" pitchFamily="50" charset="-127"/>
                <a:ea typeface="Inter" pitchFamily="34" charset="-122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Noto Sans KR" panose="020B0200000000000000" pitchFamily="50" charset="-127"/>
                <a:ea typeface="Inter" pitchFamily="34" charset="-122"/>
              </a:rPr>
              <a:t>provided</a:t>
            </a:r>
            <a:r>
              <a:rPr lang="ko-KR" altLang="en-US" dirty="0">
                <a:solidFill>
                  <a:srgbClr val="1A1A1A"/>
                </a:solidFill>
                <a:latin typeface="Noto Sans KR" panose="020B0200000000000000" pitchFamily="50" charset="-127"/>
                <a:ea typeface="Inter" pitchFamily="34" charset="-122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Noto Sans KR" panose="020B0200000000000000" pitchFamily="50" charset="-127"/>
                <a:ea typeface="Inter" pitchFamily="34" charset="-122"/>
              </a:rPr>
              <a:t>xlsx file</a:t>
            </a:r>
            <a:endParaRPr 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4DEB7E3-E87C-117C-720E-68084C64E226}"/>
              </a:ext>
            </a:extLst>
          </p:cNvPr>
          <p:cNvGraphicFramePr>
            <a:graphicFrameLocks noGrp="1"/>
          </p:cNvGraphicFramePr>
          <p:nvPr/>
        </p:nvGraphicFramePr>
        <p:xfrm>
          <a:off x="2386127" y="1732443"/>
          <a:ext cx="7697056" cy="4305498"/>
        </p:xfrm>
        <a:graphic>
          <a:graphicData uri="http://schemas.openxmlformats.org/drawingml/2006/table">
            <a:tbl>
              <a:tblPr/>
              <a:tblGrid>
                <a:gridCol w="3824666">
                  <a:extLst>
                    <a:ext uri="{9D8B030D-6E8A-4147-A177-3AD203B41FA5}">
                      <a16:colId xmlns:a16="http://schemas.microsoft.com/office/drawing/2014/main" val="647438377"/>
                    </a:ext>
                  </a:extLst>
                </a:gridCol>
                <a:gridCol w="1854385">
                  <a:extLst>
                    <a:ext uri="{9D8B030D-6E8A-4147-A177-3AD203B41FA5}">
                      <a16:colId xmlns:a16="http://schemas.microsoft.com/office/drawing/2014/main" val="3531936801"/>
                    </a:ext>
                  </a:extLst>
                </a:gridCol>
                <a:gridCol w="2018005">
                  <a:extLst>
                    <a:ext uri="{9D8B030D-6E8A-4147-A177-3AD203B41FA5}">
                      <a16:colId xmlns:a16="http://schemas.microsoft.com/office/drawing/2014/main" val="3588877780"/>
                    </a:ext>
                  </a:extLst>
                </a:gridCol>
              </a:tblGrid>
              <a:tr h="406178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Decision variables</a:t>
                      </a:r>
                    </a:p>
                  </a:txBody>
                  <a:tcPr marL="142101" marR="142101" marT="71051" marB="710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905038"/>
                  </a:ext>
                </a:extLst>
              </a:tr>
              <a:tr h="4874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 of Workforce in period </a:t>
                      </a:r>
                      <a:r>
                        <a:rPr 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</a:t>
                      </a:r>
                      <a:r>
                        <a:rPr lang="en-US" sz="1600" b="0" i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640·</a:t>
                      </a:r>
                      <a:r>
                        <a:rPr 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</a:t>
                      </a:r>
                      <a:r>
                        <a:rPr lang="en-US" sz="1600" b="0" i="1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689288"/>
                  </a:ext>
                </a:extLst>
              </a:tr>
              <a:tr h="4874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Overtime hours in period 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</a:t>
                      </a:r>
                      <a:r>
                        <a:rPr lang="en-US" sz="1600" b="0" i="1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6·</a:t>
                      </a:r>
                      <a:r>
                        <a:rPr 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</a:t>
                      </a:r>
                      <a:r>
                        <a:rPr lang="en-US" sz="1600" b="0" i="1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710832"/>
                  </a:ext>
                </a:extLst>
              </a:tr>
              <a:tr h="4874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 of newly hired in period </a:t>
                      </a:r>
                      <a:r>
                        <a:rPr 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</a:t>
                      </a:r>
                      <a:r>
                        <a:rPr lang="en-US" sz="1600" b="0" i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300·</a:t>
                      </a:r>
                      <a:r>
                        <a:rPr 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</a:t>
                      </a:r>
                      <a:r>
                        <a:rPr lang="en-US" sz="1600" b="0" i="1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438794"/>
                  </a:ext>
                </a:extLst>
              </a:tr>
              <a:tr h="4874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 of layoff in period </a:t>
                      </a:r>
                      <a:r>
                        <a:rPr 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</a:t>
                      </a:r>
                      <a:r>
                        <a:rPr lang="en-US" sz="1600" b="0" i="1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500·</a:t>
                      </a:r>
                      <a:r>
                        <a:rPr 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</a:t>
                      </a:r>
                      <a:r>
                        <a:rPr lang="en-US" sz="1600" b="0" i="1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730526"/>
                  </a:ext>
                </a:extLst>
              </a:tr>
              <a:tr h="4874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 of Inventories in period </a:t>
                      </a:r>
                      <a:r>
                        <a:rPr 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</a:t>
                      </a:r>
                      <a:r>
                        <a:rPr lang="en-US" sz="1600" b="0" i="1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2·</a:t>
                      </a:r>
                      <a:r>
                        <a:rPr 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</a:t>
                      </a:r>
                      <a:r>
                        <a:rPr lang="en-US" sz="1600" b="0" i="1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337225"/>
                  </a:ext>
                </a:extLst>
              </a:tr>
              <a:tr h="4874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 of stocking out in period </a:t>
                      </a:r>
                      <a:r>
                        <a:rPr 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en-US" sz="1600" b="0" i="1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5·</a:t>
                      </a:r>
                      <a:r>
                        <a:rPr 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en-US" sz="1600" b="0" i="1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885055"/>
                  </a:ext>
                </a:extLst>
              </a:tr>
              <a:tr h="4874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 of production units in period </a:t>
                      </a:r>
                      <a:r>
                        <a:rPr 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</a:t>
                      </a:r>
                      <a:r>
                        <a:rPr lang="en-US" sz="1600" b="0" i="1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10·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505723"/>
                  </a:ext>
                </a:extLst>
              </a:tr>
              <a:tr h="4874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 of subcontract units in period </a:t>
                      </a:r>
                      <a:r>
                        <a:rPr lang="en-US" sz="16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lang="en-US" sz="1600" b="0" i="1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30·C</a:t>
                      </a:r>
                      <a:r>
                        <a:rPr lang="en-US" sz="1600" b="0" i="1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187045"/>
                  </a:ext>
                </a:extLst>
              </a:tr>
            </a:tbl>
          </a:graphicData>
        </a:graphic>
      </p:graphicFrame>
      <p:sp>
        <p:nvSpPr>
          <p:cNvPr id="7" name="Text 3">
            <a:extLst>
              <a:ext uri="{FF2B5EF4-FFF2-40B4-BE49-F238E27FC236}">
                <a16:creationId xmlns:a16="http://schemas.microsoft.com/office/drawing/2014/main" id="{C3A3117D-54FF-9DAA-42B5-28A9C6F9D3E8}"/>
              </a:ext>
            </a:extLst>
          </p:cNvPr>
          <p:cNvSpPr txBox="1"/>
          <p:nvPr/>
        </p:nvSpPr>
        <p:spPr>
          <a:xfrm>
            <a:off x="875995" y="1143000"/>
            <a:ext cx="302026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b="1" dirty="0"/>
              <a:t>Decision variables</a:t>
            </a:r>
          </a:p>
        </p:txBody>
      </p:sp>
      <p:pic>
        <p:nvPicPr>
          <p:cNvPr id="21" name="오디오 20">
            <a:hlinkClick r:id="" action="ppaction://media"/>
            <a:extLst>
              <a:ext uri="{FF2B5EF4-FFF2-40B4-BE49-F238E27FC236}">
                <a16:creationId xmlns:a16="http://schemas.microsoft.com/office/drawing/2014/main" id="{F4B5553B-F538-36AD-FEE7-35BCC957B99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87500" t="-287500" r="-287500" b="-28750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0627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543"/>
    </mc:Choice>
    <mc:Fallback xmlns="">
      <p:transition spd="slow" advTm="945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1EA72-BF37-10D8-1D90-FC682D07C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68B5F8FE-ED82-05B7-DEE5-1824BF6817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Linear programming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712626E-CE3B-8929-20BA-F939446982EA}"/>
                  </a:ext>
                </a:extLst>
              </p:cNvPr>
              <p:cNvSpPr txBox="1"/>
              <p:nvPr/>
            </p:nvSpPr>
            <p:spPr>
              <a:xfrm>
                <a:off x="493866" y="1410506"/>
                <a:ext cx="7982481" cy="8712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𝑀𝑖𝑛𝑖𝑚𝑖𝑧𝑒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126C16F-0120-588B-A920-55108C70A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866" y="1410506"/>
                <a:ext cx="7982481" cy="8712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F91167-DC50-22F0-81C6-A7ED3ACD5843}"/>
                  </a:ext>
                </a:extLst>
              </p:cNvPr>
              <p:cNvSpPr txBox="1"/>
              <p:nvPr/>
            </p:nvSpPr>
            <p:spPr>
              <a:xfrm>
                <a:off x="1461753" y="3452699"/>
                <a:ext cx="6168980" cy="40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 ∀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5DA589-F965-28D9-8454-4A4D56718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753" y="3452699"/>
                <a:ext cx="6168980" cy="403124"/>
              </a:xfrm>
              <a:prstGeom prst="rect">
                <a:avLst/>
              </a:prstGeom>
              <a:blipFill>
                <a:blip r:embed="rId5"/>
                <a:stretch>
                  <a:fillRect t="-1493" b="-19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539A8D-7EB1-6C49-DDBB-650CD0191486}"/>
                  </a:ext>
                </a:extLst>
              </p:cNvPr>
              <p:cNvSpPr txBox="1"/>
              <p:nvPr/>
            </p:nvSpPr>
            <p:spPr>
              <a:xfrm>
                <a:off x="1461753" y="4800669"/>
                <a:ext cx="6168980" cy="40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 ∀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6A4DEE5-C86C-F6E7-F563-8336B8AE9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753" y="4800669"/>
                <a:ext cx="6168980" cy="403124"/>
              </a:xfrm>
              <a:prstGeom prst="rect">
                <a:avLst/>
              </a:prstGeom>
              <a:blipFill>
                <a:blip r:embed="rId6"/>
                <a:stretch>
                  <a:fillRect t="-3030" b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92627E-EA9F-2DA7-2CD3-17CD9C5E6FDD}"/>
                  </a:ext>
                </a:extLst>
              </p:cNvPr>
              <p:cNvSpPr txBox="1"/>
              <p:nvPr/>
            </p:nvSpPr>
            <p:spPr>
              <a:xfrm>
                <a:off x="1461753" y="5474652"/>
                <a:ext cx="61689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90A727B-0882-97F1-A2B7-68D7A597A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753" y="5474652"/>
                <a:ext cx="616898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6553F29-97C4-E60E-E2A1-A9307F9754C8}"/>
                  </a:ext>
                </a:extLst>
              </p:cNvPr>
              <p:cNvSpPr txBox="1"/>
              <p:nvPr/>
            </p:nvSpPr>
            <p:spPr>
              <a:xfrm>
                <a:off x="1757967" y="2569106"/>
                <a:ext cx="6168980" cy="40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 ∀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6553F29-97C4-E60E-E2A1-A9307F975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7967" y="2569106"/>
                <a:ext cx="6168980" cy="403124"/>
              </a:xfrm>
              <a:prstGeom prst="rect">
                <a:avLst/>
              </a:prstGeom>
              <a:blipFill>
                <a:blip r:embed="rId8"/>
                <a:stretch>
                  <a:fillRect b="-208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40A087-04D1-7891-06DA-437F1F340AB1}"/>
                  </a:ext>
                </a:extLst>
              </p:cNvPr>
              <p:cNvSpPr txBox="1"/>
              <p:nvPr/>
            </p:nvSpPr>
            <p:spPr>
              <a:xfrm>
                <a:off x="1497218" y="4046464"/>
                <a:ext cx="6168980" cy="612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 ∀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E6F2A6-F173-DDD9-3DC5-21D0C03EA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218" y="4046464"/>
                <a:ext cx="6168980" cy="6127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2AD1C23E-3300-2157-9FD2-7DA66EE48053}"/>
              </a:ext>
            </a:extLst>
          </p:cNvPr>
          <p:cNvSpPr txBox="1"/>
          <p:nvPr/>
        </p:nvSpPr>
        <p:spPr>
          <a:xfrm>
            <a:off x="7244367" y="4206962"/>
            <a:ext cx="6168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Production Capacity Constraint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4DF295-7ABD-3EBD-3656-6A8354E40E8C}"/>
              </a:ext>
            </a:extLst>
          </p:cNvPr>
          <p:cNvSpPr txBox="1"/>
          <p:nvPr/>
        </p:nvSpPr>
        <p:spPr>
          <a:xfrm>
            <a:off x="7666198" y="3412217"/>
            <a:ext cx="6742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Workforce Balance Constraint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C84631-322B-AE78-E124-EBA1AB52333E}"/>
              </a:ext>
            </a:extLst>
          </p:cNvPr>
          <p:cNvSpPr txBox="1"/>
          <p:nvPr/>
        </p:nvSpPr>
        <p:spPr>
          <a:xfrm>
            <a:off x="8100812" y="2662296"/>
            <a:ext cx="7237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Inventory Balance Constraint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082470-C3EB-29E1-2882-2CA6D805D9CF}"/>
              </a:ext>
            </a:extLst>
          </p:cNvPr>
          <p:cNvSpPr txBox="1"/>
          <p:nvPr/>
        </p:nvSpPr>
        <p:spPr>
          <a:xfrm>
            <a:off x="6478074" y="5484053"/>
            <a:ext cx="53525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Ending Inventory Requirement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E12C7A-DD6F-C3B8-C55C-93E5B7810D88}"/>
              </a:ext>
            </a:extLst>
          </p:cNvPr>
          <p:cNvSpPr txBox="1"/>
          <p:nvPr/>
        </p:nvSpPr>
        <p:spPr>
          <a:xfrm>
            <a:off x="8476347" y="1691186"/>
            <a:ext cx="77015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Minimization of the total cost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66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7788"/>
    </mc:Choice>
    <mc:Fallback xmlns="">
      <p:transition spd="slow" advTm="62778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4FD48405-4189-312E-23E6-656BBACAA4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Linear programming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126C16F-0120-588B-A920-55108C70A489}"/>
                  </a:ext>
                </a:extLst>
              </p:cNvPr>
              <p:cNvSpPr txBox="1"/>
              <p:nvPr/>
            </p:nvSpPr>
            <p:spPr>
              <a:xfrm>
                <a:off x="493866" y="1410506"/>
                <a:ext cx="7982481" cy="8712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𝑀𝑖𝑛𝑖𝑚𝑖𝑧𝑒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4800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2000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2500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80</m:t>
                              </m:r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126C16F-0120-588B-A920-55108C70A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866" y="1410506"/>
                <a:ext cx="7982481" cy="8712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5DA589-F965-28D9-8454-4A4D56718DE2}"/>
                  </a:ext>
                </a:extLst>
              </p:cNvPr>
              <p:cNvSpPr txBox="1"/>
              <p:nvPr/>
            </p:nvSpPr>
            <p:spPr>
              <a:xfrm>
                <a:off x="1461753" y="3777083"/>
                <a:ext cx="6168980" cy="40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 ∀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5DA589-F965-28D9-8454-4A4D56718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753" y="3777083"/>
                <a:ext cx="6168980" cy="403124"/>
              </a:xfrm>
              <a:prstGeom prst="rect">
                <a:avLst/>
              </a:prstGeom>
              <a:blipFill>
                <a:blip r:embed="rId3"/>
                <a:stretch>
                  <a:fillRect t="-1515" b="-227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B235B8-DE54-1758-8434-5874D6362F1E}"/>
                  </a:ext>
                </a:extLst>
              </p:cNvPr>
              <p:cNvSpPr txBox="1"/>
              <p:nvPr/>
            </p:nvSpPr>
            <p:spPr>
              <a:xfrm>
                <a:off x="1757967" y="2569106"/>
                <a:ext cx="6168980" cy="40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150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 ∀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B235B8-DE54-1758-8434-5874D6362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7967" y="2569106"/>
                <a:ext cx="6168980" cy="403124"/>
              </a:xfrm>
              <a:prstGeom prst="rect">
                <a:avLst/>
              </a:prstGeom>
              <a:blipFill>
                <a:blip r:embed="rId4"/>
                <a:stretch>
                  <a:fillRect b="-208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E6F2A6-F173-DDD9-3DC5-21D0C03EA2F9}"/>
                  </a:ext>
                </a:extLst>
              </p:cNvPr>
              <p:cNvSpPr txBox="1"/>
              <p:nvPr/>
            </p:nvSpPr>
            <p:spPr>
              <a:xfrm>
                <a:off x="1497218" y="5026815"/>
                <a:ext cx="61689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150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E6F2A6-F173-DDD9-3DC5-21D0C03EA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218" y="5026815"/>
                <a:ext cx="6168980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B825EF5B-EDA1-30D1-AB3A-CD2F305A94A5}"/>
              </a:ext>
            </a:extLst>
          </p:cNvPr>
          <p:cNvSpPr txBox="1"/>
          <p:nvPr/>
        </p:nvSpPr>
        <p:spPr>
          <a:xfrm>
            <a:off x="7244367" y="5048908"/>
            <a:ext cx="6168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Production Capacity Constraint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155B95-7134-B28A-CCE1-FA9C17561AED}"/>
              </a:ext>
            </a:extLst>
          </p:cNvPr>
          <p:cNvSpPr txBox="1"/>
          <p:nvPr/>
        </p:nvSpPr>
        <p:spPr>
          <a:xfrm>
            <a:off x="7666198" y="3929655"/>
            <a:ext cx="6742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Workforce Balance Constraint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159F25-87AD-8CF4-2BA7-2DCC183B77AE}"/>
              </a:ext>
            </a:extLst>
          </p:cNvPr>
          <p:cNvSpPr txBox="1"/>
          <p:nvPr/>
        </p:nvSpPr>
        <p:spPr>
          <a:xfrm>
            <a:off x="8100812" y="2662296"/>
            <a:ext cx="7237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Inventory Balance Constraint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608DE9-C0AE-C647-2A3A-0E51C4A273FA}"/>
              </a:ext>
            </a:extLst>
          </p:cNvPr>
          <p:cNvSpPr txBox="1"/>
          <p:nvPr/>
        </p:nvSpPr>
        <p:spPr>
          <a:xfrm>
            <a:off x="8476347" y="1691186"/>
            <a:ext cx="77015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Minimization of the total cost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1DE1396-1946-A76C-B8BD-A7786001DE2C}"/>
                  </a:ext>
                </a:extLst>
              </p:cNvPr>
              <p:cNvSpPr txBox="1"/>
              <p:nvPr/>
            </p:nvSpPr>
            <p:spPr>
              <a:xfrm>
                <a:off x="1757967" y="3020361"/>
                <a:ext cx="553791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=500,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1DE1396-1946-A76C-B8BD-A7786001D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7967" y="3020361"/>
                <a:ext cx="553791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60F976-3BFF-A65D-1D7F-DBDB41AEBA28}"/>
                  </a:ext>
                </a:extLst>
              </p:cNvPr>
              <p:cNvSpPr txBox="1"/>
              <p:nvPr/>
            </p:nvSpPr>
            <p:spPr>
              <a:xfrm>
                <a:off x="1757967" y="4162014"/>
                <a:ext cx="553791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60F976-3BFF-A65D-1D7F-DBDB41AEB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7967" y="4162014"/>
                <a:ext cx="5537915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6460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7788"/>
    </mc:Choice>
    <mc:Fallback xmlns="">
      <p:transition spd="slow" advTm="627788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554</Words>
  <Application>Microsoft Office PowerPoint</Application>
  <PresentationFormat>와이드스크린</PresentationFormat>
  <Paragraphs>84</Paragraphs>
  <Slides>5</Slides>
  <Notes>3</Notes>
  <HiddenSlides>0</HiddenSlides>
  <MMClips>3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Noto Sans KR</vt:lpstr>
      <vt:lpstr>맑은 고딕</vt:lpstr>
      <vt:lpstr>Arial</vt:lpstr>
      <vt:lpstr>Calibri</vt:lpstr>
      <vt:lpstr>Cambria Math</vt:lpstr>
      <vt:lpstr>Roboto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 young Jeong</dc:creator>
  <cp:lastModifiedBy>Ho young Jeong</cp:lastModifiedBy>
  <cp:revision>2</cp:revision>
  <dcterms:created xsi:type="dcterms:W3CDTF">2026-05-06T12:06:13Z</dcterms:created>
  <dcterms:modified xsi:type="dcterms:W3CDTF">2026-05-06T12:13:58Z</dcterms:modified>
</cp:coreProperties>
</file>